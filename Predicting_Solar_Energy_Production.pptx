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14" r:id="rId3"/>
    <p:sldId id="674" r:id="rId4"/>
    <p:sldId id="743" r:id="rId5"/>
    <p:sldId id="715" r:id="rId6"/>
    <p:sldId id="720" r:id="rId7"/>
    <p:sldId id="748" r:id="rId8"/>
    <p:sldId id="713" r:id="rId9"/>
    <p:sldId id="716" r:id="rId10"/>
    <p:sldId id="723" r:id="rId11"/>
    <p:sldId id="724" r:id="rId12"/>
    <p:sldId id="717" r:id="rId13"/>
    <p:sldId id="728" r:id="rId14"/>
    <p:sldId id="718" r:id="rId15"/>
    <p:sldId id="722" r:id="rId16"/>
    <p:sldId id="744"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1D1B58"/>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6" d="100"/>
          <a:sy n="76" d="100"/>
        </p:scale>
        <p:origin x="763" y="48"/>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14-02-2025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005858"/>
            <a:ext cx="12192000" cy="33297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i="0" dirty="0">
                <a:solidFill>
                  <a:srgbClr val="E5E7EB"/>
                </a:solidFill>
                <a:effectLst/>
                <a:latin typeface="Figtree"/>
              </a:rPr>
              <a:t>Predicting Solar Energy Production</a:t>
            </a:r>
          </a:p>
          <a:p>
            <a:pPr algn="ctr"/>
            <a:endParaRPr lang="en-IN" sz="1200" b="1" i="0" dirty="0">
              <a:solidFill>
                <a:srgbClr val="E5E7EB"/>
              </a:solidFill>
              <a:effectLst/>
              <a:latin typeface="Figtree"/>
            </a:endParaRPr>
          </a:p>
          <a:p>
            <a:pPr algn="ctr"/>
            <a:r>
              <a:rPr lang="en-US" sz="4800" b="1" i="0" dirty="0">
                <a:solidFill>
                  <a:srgbClr val="E5E7EB"/>
                </a:solidFill>
                <a:effectLst/>
                <a:latin typeface="Figtree"/>
              </a:rPr>
              <a:t>Omkar Narayan Naik</a:t>
            </a:r>
          </a:p>
          <a:p>
            <a:pPr algn="ctr"/>
            <a:r>
              <a:rPr lang="en-US" sz="4800" b="1" dirty="0">
                <a:solidFill>
                  <a:srgbClr val="E5E7EB"/>
                </a:solidFill>
                <a:latin typeface="Figtree"/>
              </a:rPr>
              <a:t>15-02-2025</a:t>
            </a:r>
            <a:endParaRPr lang="en-US" sz="4800" b="1" i="0" dirty="0">
              <a:solidFill>
                <a:srgbClr val="E5E7EB"/>
              </a:solidFill>
              <a:effectLst/>
              <a:latin typeface="Figtree"/>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4" y="603666"/>
            <a:ext cx="10834234" cy="1071147"/>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US" sz="3600" dirty="0"/>
              <a:t>Agenda</a:t>
            </a:r>
            <a:endParaRPr lang="en-IN" sz="3600" dirty="0"/>
          </a:p>
        </p:txBody>
      </p:sp>
      <p:sp>
        <p:nvSpPr>
          <p:cNvPr id="4" name="Content Placeholder 3">
            <a:extLst>
              <a:ext uri="{FF2B5EF4-FFF2-40B4-BE49-F238E27FC236}">
                <a16:creationId xmlns:a16="http://schemas.microsoft.com/office/drawing/2014/main" id="{D337C3E4-F183-4642-8FC6-176BB9FC0556}"/>
              </a:ext>
            </a:extLst>
          </p:cNvPr>
          <p:cNvSpPr txBox="1">
            <a:spLocks noGrp="1"/>
          </p:cNvSpPr>
          <p:nvPr>
            <p:ph idx="1"/>
          </p:nvPr>
        </p:nvSpPr>
        <p:spPr>
          <a:xfrm>
            <a:off x="679450" y="1953105"/>
            <a:ext cx="10833100" cy="3738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Introduction</a:t>
            </a:r>
            <a:endParaRPr lang="en-US" sz="2200" b="1" dirty="0">
              <a:latin typeface="Nunito"/>
              <a:ea typeface="+mn-lt"/>
              <a:cs typeface="+mn-lt"/>
            </a:endParaRPr>
          </a:p>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Data Collection</a:t>
            </a:r>
            <a:endParaRPr lang="en-US" sz="2200" b="1" dirty="0">
              <a:latin typeface="Nunito"/>
            </a:endParaRPr>
          </a:p>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Exploratory Data Analysis (EDA) And Visualization</a:t>
            </a:r>
            <a:endParaRPr lang="en-US" sz="2200" b="1" dirty="0">
              <a:latin typeface="Nunito"/>
            </a:endParaRPr>
          </a:p>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Data Preprocessing</a:t>
            </a:r>
            <a:endParaRPr lang="en-US" sz="2200" b="1" dirty="0">
              <a:latin typeface="Nunito"/>
            </a:endParaRPr>
          </a:p>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Machine Learning Model Development</a:t>
            </a:r>
            <a:endParaRPr lang="en-US" sz="2200" b="1" dirty="0">
              <a:latin typeface="Nunito"/>
            </a:endParaRPr>
          </a:p>
          <a:p>
            <a:pPr marL="342900" indent="-342900">
              <a:lnSpc>
                <a:spcPct val="150000"/>
              </a:lnSpc>
              <a:buFont typeface="Arial" panose="020B0604020202020204" pitchFamily="34" charset="0"/>
              <a:buChar char="•"/>
            </a:pPr>
            <a:r>
              <a:rPr lang="en-US" sz="2200" b="1" dirty="0">
                <a:solidFill>
                  <a:srgbClr val="374151"/>
                </a:solidFill>
                <a:latin typeface="Nunito"/>
                <a:ea typeface="+mn-lt"/>
                <a:cs typeface="+mn-lt"/>
              </a:rPr>
              <a:t>Model </a:t>
            </a:r>
            <a:r>
              <a:rPr lang="en-US" sz="2000" b="1" dirty="0">
                <a:solidFill>
                  <a:srgbClr val="374151"/>
                </a:solidFill>
                <a:latin typeface="Nunito"/>
              </a:rPr>
              <a:t>Evaluation</a:t>
            </a:r>
            <a:endParaRPr lang="en-US" sz="2200" b="1" dirty="0">
              <a:latin typeface="Nunito"/>
              <a:ea typeface="+mn-lt"/>
              <a:cs typeface="+mn-lt"/>
            </a:endParaRP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298172"/>
            <a:ext cx="10834234" cy="928207"/>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600" b="1" i="0" dirty="0">
                <a:solidFill>
                  <a:srgbClr val="E5E7EB"/>
                </a:solidFill>
                <a:effectLst/>
                <a:latin typeface="Figtree"/>
              </a:rPr>
              <a:t>Predicting Solar Energy Production</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792495"/>
            <a:ext cx="5417116" cy="3273010"/>
          </a:xfrm>
          <a:prstGeom prst="rect">
            <a:avLst/>
          </a:prstGeom>
        </p:spPr>
        <p:txBody>
          <a:bodyPr>
            <a:normAutofit fontScale="325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lgn="just">
              <a:lnSpc>
                <a:spcPct val="120000"/>
              </a:lnSpc>
              <a:buNone/>
            </a:pPr>
            <a:r>
              <a:rPr lang="en-US" sz="5500" b="1" dirty="0">
                <a:latin typeface="Nunito" pitchFamily="2" charset="0"/>
              </a:rPr>
              <a:t> Project </a:t>
            </a:r>
            <a:r>
              <a:rPr lang="en-US" sz="5500" b="1" dirty="0">
                <a:solidFill>
                  <a:srgbClr val="374151"/>
                </a:solidFill>
                <a:latin typeface="Nunito" pitchFamily="2" charset="0"/>
                <a:ea typeface="+mn-lt"/>
                <a:cs typeface="+mn-lt"/>
              </a:rPr>
              <a:t>Introduction</a:t>
            </a:r>
          </a:p>
          <a:p>
            <a:pPr marL="0" lvl="0" indent="0" algn="just">
              <a:lnSpc>
                <a:spcPct val="120000"/>
              </a:lnSpc>
              <a:buNone/>
            </a:pPr>
            <a:r>
              <a:rPr lang="en-US" sz="5600" dirty="0">
                <a:latin typeface="Nunito" pitchFamily="2" charset="0"/>
              </a:rPr>
              <a:t>Client: A renewable energy provider</a:t>
            </a:r>
          </a:p>
          <a:p>
            <a:pPr marL="0" lvl="0" indent="0" algn="just">
              <a:lnSpc>
                <a:spcPct val="120000"/>
              </a:lnSpc>
              <a:buNone/>
            </a:pPr>
            <a:r>
              <a:rPr lang="en-US" sz="5600" dirty="0">
                <a:latin typeface="Nunito" pitchFamily="2" charset="0"/>
              </a:rPr>
              <a:t>Objective: Develop a machine learning model to predict annual solar energy production.</a:t>
            </a:r>
          </a:p>
          <a:p>
            <a:pPr marL="0" lvl="0" indent="0" algn="just">
              <a:lnSpc>
                <a:spcPct val="120000"/>
              </a:lnSpc>
              <a:buNone/>
            </a:pPr>
            <a:r>
              <a:rPr lang="en-US" sz="5600" dirty="0">
                <a:latin typeface="Nunito" pitchFamily="2" charset="0"/>
              </a:rPr>
              <a:t>Key Goals:</a:t>
            </a:r>
          </a:p>
          <a:p>
            <a:pPr marL="0" lvl="0" indent="0" algn="just">
              <a:lnSpc>
                <a:spcPct val="120000"/>
              </a:lnSpc>
              <a:buNone/>
            </a:pPr>
            <a:r>
              <a:rPr lang="en-US" sz="5600" dirty="0">
                <a:latin typeface="Nunito" pitchFamily="2" charset="0"/>
              </a:rPr>
              <a:t>Improve project planning</a:t>
            </a:r>
          </a:p>
          <a:p>
            <a:pPr marL="0" lvl="0" indent="0" algn="just">
              <a:lnSpc>
                <a:spcPct val="120000"/>
              </a:lnSpc>
              <a:buNone/>
            </a:pPr>
            <a:r>
              <a:rPr lang="en-US" sz="5600" dirty="0">
                <a:latin typeface="Nunito" pitchFamily="2" charset="0"/>
              </a:rPr>
              <a:t>Enhance grid integration</a:t>
            </a:r>
          </a:p>
          <a:p>
            <a:pPr marL="0" lvl="0" indent="0" algn="just">
              <a:lnSpc>
                <a:spcPct val="120000"/>
              </a:lnSpc>
              <a:buNone/>
            </a:pPr>
            <a:r>
              <a:rPr lang="en-US" sz="5600" dirty="0">
                <a:latin typeface="Nunito" pitchFamily="2" charset="0"/>
              </a:rPr>
              <a:t>Provide data-driven insights for decision-making</a:t>
            </a:r>
            <a:endParaRPr lang="en-US" dirty="0">
              <a:latin typeface="Nunito" pitchFamily="2" charset="0"/>
            </a:endParaRPr>
          </a:p>
        </p:txBody>
      </p:sp>
      <p:pic>
        <p:nvPicPr>
          <p:cNvPr id="4" name="Picture 3">
            <a:extLst>
              <a:ext uri="{FF2B5EF4-FFF2-40B4-BE49-F238E27FC236}">
                <a16:creationId xmlns:a16="http://schemas.microsoft.com/office/drawing/2014/main" id="{A8B47B77-5F00-4471-9E98-7400B49A16E2}"/>
              </a:ext>
            </a:extLst>
          </p:cNvPr>
          <p:cNvPicPr>
            <a:picLocks noChangeAspect="1"/>
          </p:cNvPicPr>
          <p:nvPr/>
        </p:nvPicPr>
        <p:blipFill>
          <a:blip r:embed="rId2"/>
          <a:stretch>
            <a:fillRect/>
          </a:stretch>
        </p:blipFill>
        <p:spPr>
          <a:xfrm>
            <a:off x="5279011" y="1630837"/>
            <a:ext cx="6234105" cy="4317475"/>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A49395D-DDE9-484D-AB95-AD7324E9D9A4}"/>
              </a:ext>
            </a:extLst>
          </p:cNvPr>
          <p:cNvSpPr txBox="1">
            <a:spLocks noGrp="1"/>
          </p:cNvSpPr>
          <p:nvPr>
            <p:ph idx="1"/>
          </p:nvPr>
        </p:nvSpPr>
        <p:spPr>
          <a:xfrm>
            <a:off x="679450" y="1467423"/>
            <a:ext cx="6956261" cy="44714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IN" b="1" dirty="0"/>
              <a:t>Data Source:</a:t>
            </a:r>
            <a:r>
              <a:rPr lang="en-IN" dirty="0"/>
              <a:t> Provided dataset + additional data sources (if applicable)</a:t>
            </a:r>
          </a:p>
          <a:p>
            <a:pPr>
              <a:buFont typeface="Arial" panose="020B0604020202020204" pitchFamily="34" charset="0"/>
              <a:buChar char="•"/>
            </a:pPr>
            <a:r>
              <a:rPr lang="en-IN" b="1" dirty="0"/>
              <a:t>Target Variable:</a:t>
            </a:r>
            <a:r>
              <a:rPr lang="en-IN" dirty="0"/>
              <a:t> Estimated Annual PV Energy Production (kWh)</a:t>
            </a:r>
          </a:p>
          <a:p>
            <a:pPr>
              <a:buFont typeface="Arial" panose="020B0604020202020204" pitchFamily="34" charset="0"/>
              <a:buChar char="•"/>
            </a:pPr>
            <a:r>
              <a:rPr lang="en-IN" b="1" dirty="0"/>
              <a:t>Key Features:</a:t>
            </a:r>
            <a:endParaRPr lang="en-IN" dirty="0"/>
          </a:p>
          <a:p>
            <a:pPr marL="742950" lvl="1" indent="-285750">
              <a:buFont typeface="Arial" panose="020B0604020202020204" pitchFamily="34" charset="0"/>
              <a:buChar char="•"/>
            </a:pPr>
            <a:r>
              <a:rPr lang="en-IN" dirty="0"/>
              <a:t>Developer, Region, Utility, PV System Size (kWac &amp; kWdc), Interconnection Date, Energy Storage, etc.</a:t>
            </a:r>
          </a:p>
          <a:p>
            <a:pPr>
              <a:buFont typeface="Arial" panose="020B0604020202020204" pitchFamily="34" charset="0"/>
              <a:buChar char="•"/>
            </a:pPr>
            <a:r>
              <a:rPr lang="en-IN" b="1" dirty="0"/>
              <a:t>Dataset Size:</a:t>
            </a:r>
            <a:r>
              <a:rPr lang="en-IN" dirty="0"/>
              <a:t> </a:t>
            </a:r>
            <a:r>
              <a:rPr lang="en-IN" i="0" u="none" strike="noStrike" dirty="0">
                <a:solidFill>
                  <a:srgbClr val="000000"/>
                </a:solidFill>
                <a:effectLst/>
                <a:latin typeface="Calibri" panose="020F0502020204030204" pitchFamily="34" charset="0"/>
              </a:rPr>
              <a:t>218115</a:t>
            </a:r>
            <a:r>
              <a:rPr lang="en-IN" dirty="0"/>
              <a:t>  Rows, 17 Columns</a:t>
            </a:r>
          </a:p>
          <a:p>
            <a:pPr marL="0" indent="0" algn="just">
              <a:lnSpc>
                <a:spcPct val="120000"/>
              </a:lnSpc>
              <a:buFont typeface="Arial" panose="020B0604020202020204" pitchFamily="34" charset="0"/>
              <a:buNone/>
            </a:pPr>
            <a:endParaRPr lang="en-US" dirty="0">
              <a:latin typeface="Nunito" pitchFamily="2" charset="0"/>
            </a:endParaRPr>
          </a:p>
        </p:txBody>
      </p:sp>
      <p:sp>
        <p:nvSpPr>
          <p:cNvPr id="5" name="Title 1">
            <a:extLst>
              <a:ext uri="{FF2B5EF4-FFF2-40B4-BE49-F238E27FC236}">
                <a16:creationId xmlns:a16="http://schemas.microsoft.com/office/drawing/2014/main" id="{0A205D1C-F536-4D8C-B280-1244DDA8EB62}"/>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200" b="1" dirty="0"/>
              <a:t>Dataset Overview</a:t>
            </a:r>
            <a:endParaRPr lang="en-IN" sz="3200" dirty="0"/>
          </a:p>
        </p:txBody>
      </p:sp>
      <p:pic>
        <p:nvPicPr>
          <p:cNvPr id="3" name="Picture 2">
            <a:extLst>
              <a:ext uri="{FF2B5EF4-FFF2-40B4-BE49-F238E27FC236}">
                <a16:creationId xmlns:a16="http://schemas.microsoft.com/office/drawing/2014/main" id="{9BC5CDFD-3908-40F6-B356-437CE087C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7651" y="1638936"/>
            <a:ext cx="3580127" cy="3580127"/>
          </a:xfrm>
          <a:prstGeom prst="rect">
            <a:avLst/>
          </a:prstGeom>
        </p:spPr>
      </p:pic>
    </p:spTree>
    <p:extLst>
      <p:ext uri="{BB962C8B-B14F-4D97-AF65-F5344CB8AC3E}">
        <p14:creationId xmlns:p14="http://schemas.microsoft.com/office/powerpoint/2010/main" val="3771707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42D173-8B3B-4BA1-A2E1-7BE0E9249900}"/>
              </a:ext>
            </a:extLst>
          </p:cNvPr>
          <p:cNvSpPr/>
          <p:nvPr/>
        </p:nvSpPr>
        <p:spPr>
          <a:xfrm>
            <a:off x="0" y="0"/>
            <a:ext cx="12192000" cy="6858000"/>
          </a:xfrm>
          <a:prstGeom prst="rect">
            <a:avLst/>
          </a:prstGeom>
          <a:solidFill>
            <a:srgbClr val="161A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itle 1">
            <a:extLst>
              <a:ext uri="{FF2B5EF4-FFF2-40B4-BE49-F238E27FC236}">
                <a16:creationId xmlns:a16="http://schemas.microsoft.com/office/drawing/2014/main" id="{3B830DC6-E95D-48B8-93A8-72153BC05C4F}"/>
              </a:ext>
            </a:extLst>
          </p:cNvPr>
          <p:cNvSpPr>
            <a:spLocks noGrp="1"/>
          </p:cNvSpPr>
          <p:nvPr>
            <p:ph type="title"/>
          </p:nvPr>
        </p:nvSpPr>
        <p:spPr>
          <a:xfrm>
            <a:off x="679450" y="433632"/>
            <a:ext cx="10833100" cy="725865"/>
          </a:xfrm>
          <a:solidFill>
            <a:schemeClr val="bg1"/>
          </a:solidFill>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600" b="1" i="0" dirty="0">
                <a:solidFill>
                  <a:srgbClr val="161A3E"/>
                </a:solidFill>
                <a:effectLst/>
                <a:latin typeface="Figtree"/>
              </a:rPr>
              <a:t>The Project Workflow</a:t>
            </a:r>
          </a:p>
        </p:txBody>
      </p:sp>
      <p:pic>
        <p:nvPicPr>
          <p:cNvPr id="5" name="Picture 4">
            <a:extLst>
              <a:ext uri="{FF2B5EF4-FFF2-40B4-BE49-F238E27FC236}">
                <a16:creationId xmlns:a16="http://schemas.microsoft.com/office/drawing/2014/main" id="{B4B4C59D-8A6A-4656-8C4B-14CB48F94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 y="1159497"/>
            <a:ext cx="10833100" cy="5392132"/>
          </a:xfrm>
          <a:prstGeom prst="rect">
            <a:avLst/>
          </a:prstGeom>
        </p:spPr>
      </p:pic>
    </p:spTree>
    <p:extLst>
      <p:ext uri="{BB962C8B-B14F-4D97-AF65-F5344CB8AC3E}">
        <p14:creationId xmlns:p14="http://schemas.microsoft.com/office/powerpoint/2010/main" val="1908362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0C471-F0FA-4D8F-A21A-219C9F9534CC}"/>
              </a:ext>
            </a:extLst>
          </p:cNvPr>
          <p:cNvSpPr>
            <a:spLocks noGrp="1"/>
          </p:cNvSpPr>
          <p:nvPr>
            <p:ph type="title"/>
          </p:nvPr>
        </p:nvSpPr>
        <p:spPr>
          <a:xfrm>
            <a:off x="678883" y="338726"/>
            <a:ext cx="10834233" cy="868571"/>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b="1" spc="-30" dirty="0">
                <a:solidFill>
                  <a:schemeClr val="bg1"/>
                </a:solidFill>
                <a:latin typeface="Nunito"/>
                <a:cs typeface="Times New Roman"/>
              </a:rPr>
              <a:t>Data Preprocessing</a:t>
            </a:r>
            <a:endParaRPr lang="en-IN" dirty="0">
              <a:solidFill>
                <a:schemeClr val="bg1"/>
              </a:solidFill>
            </a:endParaRPr>
          </a:p>
        </p:txBody>
      </p:sp>
      <p:pic>
        <p:nvPicPr>
          <p:cNvPr id="6" name="Content Placeholder 5">
            <a:extLst>
              <a:ext uri="{FF2B5EF4-FFF2-40B4-BE49-F238E27FC236}">
                <a16:creationId xmlns:a16="http://schemas.microsoft.com/office/drawing/2014/main" id="{B9987BED-EE30-449B-B1B0-C4284F00678A}"/>
              </a:ext>
            </a:extLst>
          </p:cNvPr>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rcRect l="10330" r="17025"/>
          <a:stretch/>
        </p:blipFill>
        <p:spPr>
          <a:xfrm>
            <a:off x="881274" y="1986123"/>
            <a:ext cx="3879569" cy="3429267"/>
          </a:xfrm>
          <a:effectLst>
            <a:outerShdw blurRad="241300" dist="38100" dir="5400000" sx="101000" sy="101000" algn="t" rotWithShape="0">
              <a:prstClr val="black">
                <a:alpha val="40000"/>
              </a:prstClr>
            </a:outerShdw>
          </a:effectLst>
        </p:spPr>
      </p:pic>
      <p:pic>
        <p:nvPicPr>
          <p:cNvPr id="8" name="Content Placeholder 7">
            <a:extLst>
              <a:ext uri="{FF2B5EF4-FFF2-40B4-BE49-F238E27FC236}">
                <a16:creationId xmlns:a16="http://schemas.microsoft.com/office/drawing/2014/main" id="{1FB22E83-EF10-4059-8579-B007D071ED75}"/>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t="-599" b="1"/>
          <a:stretch/>
        </p:blipFill>
        <p:spPr>
          <a:xfrm>
            <a:off x="5932218" y="2145373"/>
            <a:ext cx="5580332" cy="3270017"/>
          </a:xfrm>
        </p:spPr>
      </p:pic>
      <p:pic>
        <p:nvPicPr>
          <p:cNvPr id="9" name="Picture 8" descr="Data Preprocessing in 2023: Importance &amp; 5 Steps">
            <a:extLst>
              <a:ext uri="{FF2B5EF4-FFF2-40B4-BE49-F238E27FC236}">
                <a16:creationId xmlns:a16="http://schemas.microsoft.com/office/drawing/2014/main" id="{63C93D00-D261-44BC-A8A7-6053FF0A312D}"/>
              </a:ext>
            </a:extLst>
          </p:cNvPr>
          <p:cNvPicPr>
            <a:picLocks noChangeAspect="1"/>
          </p:cNvPicPr>
          <p:nvPr/>
        </p:nvPicPr>
        <p:blipFill rotWithShape="1">
          <a:blip r:embed="rId4"/>
          <a:srcRect l="3662" t="13618" r="4185" b="9078"/>
          <a:stretch/>
        </p:blipFill>
        <p:spPr>
          <a:xfrm>
            <a:off x="5399230" y="2116619"/>
            <a:ext cx="5911496" cy="31403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09863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623867-F125-4967-8AC1-83E1B1C467A6}"/>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200" b="1" dirty="0"/>
              <a:t>Data Pre-processing</a:t>
            </a:r>
            <a:endParaRPr lang="en-IN" sz="3600" b="1" i="0" dirty="0">
              <a:solidFill>
                <a:srgbClr val="E5E7EB"/>
              </a:solidFill>
              <a:effectLst/>
              <a:latin typeface="Figtree"/>
            </a:endParaRPr>
          </a:p>
        </p:txBody>
      </p:sp>
      <p:sp>
        <p:nvSpPr>
          <p:cNvPr id="3" name="Content Placeholder 2">
            <a:extLst>
              <a:ext uri="{FF2B5EF4-FFF2-40B4-BE49-F238E27FC236}">
                <a16:creationId xmlns:a16="http://schemas.microsoft.com/office/drawing/2014/main" id="{04243DA3-9C0F-4F6C-B12C-E9EEB039F376}"/>
              </a:ext>
            </a:extLst>
          </p:cNvPr>
          <p:cNvSpPr>
            <a:spLocks noGrp="1"/>
          </p:cNvSpPr>
          <p:nvPr>
            <p:ph idx="1"/>
          </p:nvPr>
        </p:nvSpPr>
        <p:spPr>
          <a:xfrm>
            <a:off x="588448" y="1229967"/>
            <a:ext cx="6164976" cy="4398066"/>
          </a:xfrm>
        </p:spPr>
        <p:txBody>
          <a:bodyPr/>
          <a:lstStyle/>
          <a:p>
            <a:pPr marL="0" indent="0" algn="ctr">
              <a:buNone/>
            </a:pPr>
            <a:endParaRPr lang="en-IN" dirty="0"/>
          </a:p>
          <a:p>
            <a:pPr>
              <a:buFont typeface="Arial" panose="020B0604020202020204" pitchFamily="34" charset="0"/>
              <a:buChar char="•"/>
            </a:pPr>
            <a:r>
              <a:rPr lang="en-IN" b="1" dirty="0"/>
              <a:t>Handling Missing Values:</a:t>
            </a:r>
            <a:endParaRPr lang="en-IN" dirty="0"/>
          </a:p>
          <a:p>
            <a:pPr marL="742950" lvl="1" indent="-285750">
              <a:buFont typeface="Arial" panose="020B0604020202020204" pitchFamily="34" charset="0"/>
              <a:buChar char="•"/>
            </a:pPr>
            <a:r>
              <a:rPr lang="en-IN" dirty="0"/>
              <a:t>Numerical: Filled with median</a:t>
            </a:r>
          </a:p>
          <a:p>
            <a:pPr marL="742950" lvl="1" indent="-285750">
              <a:buFont typeface="Arial" panose="020B0604020202020204" pitchFamily="34" charset="0"/>
              <a:buChar char="•"/>
            </a:pPr>
            <a:r>
              <a:rPr lang="en-IN" dirty="0"/>
              <a:t>Categorical: Filled with "Unknown"</a:t>
            </a:r>
          </a:p>
          <a:p>
            <a:pPr>
              <a:buFont typeface="Arial" panose="020B0604020202020204" pitchFamily="34" charset="0"/>
              <a:buChar char="•"/>
            </a:pPr>
            <a:r>
              <a:rPr lang="en-IN" b="1" dirty="0"/>
              <a:t>Encoding Categorical Variables:</a:t>
            </a:r>
            <a:endParaRPr lang="en-IN" dirty="0"/>
          </a:p>
          <a:p>
            <a:pPr marL="742950" lvl="1" indent="-285750">
              <a:buFont typeface="Arial" panose="020B0604020202020204" pitchFamily="34" charset="0"/>
              <a:buChar char="•"/>
            </a:pPr>
            <a:r>
              <a:rPr lang="en-IN" dirty="0"/>
              <a:t>Label Encoding for Developer, Utility, etc.</a:t>
            </a:r>
          </a:p>
          <a:p>
            <a:pPr>
              <a:buFont typeface="Arial" panose="020B0604020202020204" pitchFamily="34" charset="0"/>
              <a:buChar char="•"/>
            </a:pPr>
            <a:r>
              <a:rPr lang="en-IN" b="1" dirty="0"/>
              <a:t>Feature Scaling:</a:t>
            </a:r>
            <a:endParaRPr lang="en-IN" dirty="0"/>
          </a:p>
          <a:p>
            <a:pPr marL="742950" lvl="1" indent="-285750">
              <a:buFont typeface="Arial" panose="020B0604020202020204" pitchFamily="34" charset="0"/>
              <a:buChar char="•"/>
            </a:pPr>
            <a:r>
              <a:rPr lang="en-IN" dirty="0"/>
              <a:t>Standardized numerical values</a:t>
            </a:r>
          </a:p>
          <a:p>
            <a:pPr marL="0" indent="0">
              <a:buNone/>
            </a:pPr>
            <a:endParaRPr lang="en-IN" dirty="0"/>
          </a:p>
        </p:txBody>
      </p:sp>
      <p:pic>
        <p:nvPicPr>
          <p:cNvPr id="5" name="Picture 4">
            <a:extLst>
              <a:ext uri="{FF2B5EF4-FFF2-40B4-BE49-F238E27FC236}">
                <a16:creationId xmlns:a16="http://schemas.microsoft.com/office/drawing/2014/main" id="{B55A9CA6-EB7C-4BCE-BB90-8FC5DD494B1F}"/>
              </a:ext>
            </a:extLst>
          </p:cNvPr>
          <p:cNvPicPr>
            <a:picLocks noChangeAspect="1"/>
          </p:cNvPicPr>
          <p:nvPr/>
        </p:nvPicPr>
        <p:blipFill>
          <a:blip r:embed="rId2"/>
          <a:stretch>
            <a:fillRect/>
          </a:stretch>
        </p:blipFill>
        <p:spPr>
          <a:xfrm>
            <a:off x="6583800" y="1396720"/>
            <a:ext cx="4772388" cy="4607169"/>
          </a:xfrm>
          <a:prstGeom prst="rect">
            <a:avLst/>
          </a:prstGeom>
        </p:spPr>
      </p:pic>
    </p:spTree>
    <p:extLst>
      <p:ext uri="{BB962C8B-B14F-4D97-AF65-F5344CB8AC3E}">
        <p14:creationId xmlns:p14="http://schemas.microsoft.com/office/powerpoint/2010/main" val="74834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6429232" y="1367604"/>
            <a:ext cx="5107239" cy="4398066"/>
          </a:xfrm>
        </p:spPr>
        <p:txBody>
          <a:bodyPr>
            <a:normAutofit fontScale="62500" lnSpcReduction="20000"/>
          </a:bodyPr>
          <a:lstStyle/>
          <a:p>
            <a:r>
              <a:rPr lang="en-US" sz="2200" b="1" dirty="0">
                <a:solidFill>
                  <a:schemeClr val="bg1"/>
                </a:solidFill>
                <a:latin typeface="Nunito"/>
                <a:ea typeface="+mn-lt"/>
                <a:cs typeface="+mn-lt"/>
              </a:rPr>
              <a:t>What is EDA?</a:t>
            </a:r>
            <a:endParaRPr lang="en-US" sz="2200" dirty="0">
              <a:solidFill>
                <a:schemeClr val="bg1"/>
              </a:solidFill>
              <a:latin typeface="Nunito"/>
            </a:endParaRPr>
          </a:p>
          <a:p>
            <a:pPr marL="742950" lvl="1" indent="-285750">
              <a:buFont typeface="Arial"/>
              <a:buChar char="•"/>
            </a:pPr>
            <a:r>
              <a:rPr lang="en-US" sz="2200" b="1" dirty="0">
                <a:solidFill>
                  <a:schemeClr val="bg1"/>
                </a:solidFill>
                <a:latin typeface="Nunito"/>
                <a:ea typeface="+mn-lt"/>
                <a:cs typeface="+mn-lt"/>
              </a:rPr>
              <a:t>EDA</a:t>
            </a:r>
            <a:r>
              <a:rPr lang="en-US" sz="2200" dirty="0">
                <a:solidFill>
                  <a:schemeClr val="bg1"/>
                </a:solidFill>
                <a:latin typeface="Nunito"/>
                <a:ea typeface="+mn-lt"/>
                <a:cs typeface="+mn-lt"/>
              </a:rPr>
              <a:t> is the initial phase of data analysis.</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It's about examining and understanding your data before diving into modeling.</a:t>
            </a:r>
          </a:p>
          <a:p>
            <a:pPr marL="285750" indent="-285750">
              <a:buFont typeface="Arial"/>
              <a:buChar char="•"/>
            </a:pPr>
            <a:endParaRPr lang="en-US" sz="2200" dirty="0">
              <a:solidFill>
                <a:schemeClr val="bg1"/>
              </a:solidFill>
              <a:latin typeface="Nunito"/>
              <a:ea typeface="+mn-lt"/>
              <a:cs typeface="+mn-lt"/>
            </a:endParaRPr>
          </a:p>
          <a:p>
            <a:r>
              <a:rPr lang="en-US" sz="2200" b="1" dirty="0">
                <a:solidFill>
                  <a:schemeClr val="bg1"/>
                </a:solidFill>
                <a:latin typeface="Nunito"/>
                <a:ea typeface="+mn-lt"/>
                <a:cs typeface="+mn-lt"/>
              </a:rPr>
              <a:t>Basic Statistics</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Utilize basic statistics to summarize data.</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Key stats include mean, median, and standard deviation.</a:t>
            </a:r>
          </a:p>
          <a:p>
            <a:pPr marL="285750" indent="-285750">
              <a:buFont typeface="Arial"/>
              <a:buChar char="•"/>
            </a:pPr>
            <a:endParaRPr lang="en-US" sz="2200" dirty="0">
              <a:solidFill>
                <a:schemeClr val="bg1"/>
              </a:solidFill>
              <a:latin typeface="Nunito"/>
              <a:ea typeface="+mn-lt"/>
              <a:cs typeface="+mn-lt"/>
            </a:endParaRPr>
          </a:p>
          <a:p>
            <a:r>
              <a:rPr lang="en-US" sz="2200" b="1" dirty="0">
                <a:solidFill>
                  <a:schemeClr val="bg1"/>
                </a:solidFill>
                <a:latin typeface="Nunito"/>
                <a:ea typeface="+mn-lt"/>
                <a:cs typeface="+mn-lt"/>
              </a:rPr>
              <a:t>Data Summary</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Summarize the main characteristics of the data.</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Identify patterns, anomalies, and insights.</a:t>
            </a:r>
          </a:p>
          <a:p>
            <a:pPr marL="285750" indent="-285750">
              <a:buFont typeface="Arial"/>
              <a:buChar char="•"/>
            </a:pPr>
            <a:endParaRPr lang="en-US" sz="2200" dirty="0">
              <a:solidFill>
                <a:schemeClr val="bg1"/>
              </a:solidFill>
              <a:latin typeface="Nunito"/>
              <a:ea typeface="+mn-lt"/>
              <a:cs typeface="+mn-lt"/>
            </a:endParaRPr>
          </a:p>
          <a:p>
            <a:r>
              <a:rPr lang="en-US" sz="2200" b="1" dirty="0">
                <a:solidFill>
                  <a:schemeClr val="bg1"/>
                </a:solidFill>
                <a:latin typeface="Nunito"/>
                <a:ea typeface="+mn-lt"/>
                <a:cs typeface="+mn-lt"/>
              </a:rPr>
              <a:t>Importance of EDA</a:t>
            </a:r>
            <a:endParaRPr lang="en-US" sz="2200" dirty="0">
              <a:solidFill>
                <a:schemeClr val="bg1"/>
              </a:solidFill>
              <a:latin typeface="Nunito"/>
            </a:endParaRPr>
          </a:p>
          <a:p>
            <a:pPr marL="742950" lvl="1" indent="-285750">
              <a:buFont typeface="Arial"/>
              <a:buChar char="•"/>
            </a:pPr>
            <a:r>
              <a:rPr lang="en-US" sz="2200" dirty="0">
                <a:solidFill>
                  <a:schemeClr val="bg1"/>
                </a:solidFill>
                <a:latin typeface="Nunito"/>
                <a:ea typeface="+mn-lt"/>
                <a:cs typeface="+mn-lt"/>
              </a:rPr>
              <a:t>EDA helps identify data trends, issues, and outliers.</a:t>
            </a:r>
          </a:p>
          <a:p>
            <a:pPr marL="742950" lvl="1" indent="-285750">
              <a:buFont typeface="Arial"/>
              <a:buChar char="•"/>
            </a:pPr>
            <a:r>
              <a:rPr lang="en-US" sz="2200" dirty="0">
                <a:solidFill>
                  <a:schemeClr val="bg1"/>
                </a:solidFill>
                <a:latin typeface="Nunito"/>
                <a:ea typeface="+mn-lt"/>
                <a:cs typeface="+mn-lt"/>
              </a:rPr>
              <a:t>It guides data preprocessing and feature selection.</a:t>
            </a:r>
          </a:p>
          <a:p>
            <a:pPr marL="742950" lvl="1" indent="-285750">
              <a:buFont typeface="Arial"/>
              <a:buChar char="•"/>
            </a:pPr>
            <a:r>
              <a:rPr lang="en-US" sz="2200" dirty="0">
                <a:solidFill>
                  <a:schemeClr val="bg1"/>
                </a:solidFill>
                <a:latin typeface="Nunito"/>
                <a:ea typeface="+mn-lt"/>
                <a:cs typeface="+mn-lt"/>
              </a:rPr>
              <a:t>A crucial step before building predictive models.</a:t>
            </a:r>
          </a:p>
          <a:p>
            <a:endParaRPr lang="en-IN" dirty="0">
              <a:solidFill>
                <a:schemeClr val="bg1"/>
              </a:solidFill>
            </a:endParaRPr>
          </a:p>
        </p:txBody>
      </p:sp>
      <p:sp>
        <p:nvSpPr>
          <p:cNvPr id="6" name="Title 1">
            <a:extLst>
              <a:ext uri="{FF2B5EF4-FFF2-40B4-BE49-F238E27FC236}">
                <a16:creationId xmlns:a16="http://schemas.microsoft.com/office/drawing/2014/main" id="{4F41C3DA-37BA-46D5-89B2-BFDDA4A30B50}"/>
              </a:ext>
            </a:extLst>
          </p:cNvPr>
          <p:cNvSpPr>
            <a:spLocks noGrp="1"/>
          </p:cNvSpPr>
          <p:nvPr>
            <p:ph type="title"/>
          </p:nvPr>
        </p:nvSpPr>
        <p:spPr>
          <a:xfrm>
            <a:off x="6429801" y="311018"/>
            <a:ext cx="5106988" cy="612775"/>
          </a:xfrm>
          <a:solidFill>
            <a:srgbClr val="1D1B58"/>
          </a:solidFill>
          <a:ln>
            <a:solidFill>
              <a:srgbClr val="1D1B58"/>
            </a:solidFill>
          </a:ln>
        </p:spPr>
        <p:style>
          <a:lnRef idx="2">
            <a:schemeClr val="dk1">
              <a:shade val="50000"/>
            </a:schemeClr>
          </a:lnRef>
          <a:fillRef idx="1">
            <a:schemeClr val="dk1"/>
          </a:fillRef>
          <a:effectRef idx="0">
            <a:schemeClr val="dk1"/>
          </a:effectRef>
          <a:fontRef idx="minor">
            <a:schemeClr val="lt1"/>
          </a:fontRef>
        </p:style>
        <p:txBody>
          <a:bodyPr>
            <a:normAutofit fontScale="90000"/>
          </a:bodyPr>
          <a:lstStyle/>
          <a:p>
            <a:pPr marL="12700" algn="ctr">
              <a:spcBef>
                <a:spcPts val="100"/>
              </a:spcBef>
            </a:pPr>
            <a:r>
              <a:rPr lang="en-IN" b="1" spc="-30" dirty="0">
                <a:solidFill>
                  <a:schemeClr val="bg1"/>
                </a:solidFill>
                <a:latin typeface="Nunito"/>
                <a:cs typeface="Times New Roman"/>
              </a:rPr>
              <a:t>Exploratory Data Analysis</a:t>
            </a:r>
            <a:endParaRPr lang="en-US" dirty="0">
              <a:solidFill>
                <a:schemeClr val="bg1"/>
              </a:solidFill>
            </a:endParaRPr>
          </a:p>
        </p:txBody>
      </p:sp>
      <p:pic>
        <p:nvPicPr>
          <p:cNvPr id="8" name="Picture 7">
            <a:extLst>
              <a:ext uri="{FF2B5EF4-FFF2-40B4-BE49-F238E27FC236}">
                <a16:creationId xmlns:a16="http://schemas.microsoft.com/office/drawing/2014/main" id="{9741E5D2-245C-40BC-9792-45EDA7FCCD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151" y="1714500"/>
            <a:ext cx="4795998" cy="3429000"/>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37460-34D2-49D2-8098-CAD3AC5D7CAF}"/>
              </a:ext>
            </a:extLst>
          </p:cNvPr>
          <p:cNvSpPr>
            <a:spLocks noGrp="1"/>
          </p:cNvSpPr>
          <p:nvPr>
            <p:ph idx="1"/>
          </p:nvPr>
        </p:nvSpPr>
        <p:spPr>
          <a:xfrm>
            <a:off x="678884" y="1675075"/>
            <a:ext cx="10414496" cy="3891712"/>
          </a:xfrm>
        </p:spPr>
        <p:txBody>
          <a:bodyPr>
            <a:normAutofit/>
          </a:bodyPr>
          <a:lstStyle/>
          <a:p>
            <a:r>
              <a:rPr lang="en-US" sz="3600" b="1" dirty="0"/>
              <a:t>Exploratory Data Analysis (EDA)</a:t>
            </a:r>
            <a:endParaRPr lang="en-US" sz="3600" dirty="0"/>
          </a:p>
          <a:p>
            <a:pPr>
              <a:buFont typeface="Arial" panose="020B0604020202020204" pitchFamily="34" charset="0"/>
              <a:buChar char="•"/>
            </a:pPr>
            <a:r>
              <a:rPr lang="en-US" sz="3600" b="1" dirty="0"/>
              <a:t>Key Insights:</a:t>
            </a:r>
            <a:endParaRPr lang="en-US" sz="3600" dirty="0"/>
          </a:p>
          <a:p>
            <a:pPr marL="742950" lvl="1" indent="-285750">
              <a:buFont typeface="Arial" panose="020B0604020202020204" pitchFamily="34" charset="0"/>
              <a:buChar char="•"/>
            </a:pPr>
            <a:r>
              <a:rPr lang="en-US" sz="3200" dirty="0"/>
              <a:t>Correlation analysis between features</a:t>
            </a:r>
          </a:p>
          <a:p>
            <a:pPr marL="742950" lvl="1" indent="-285750">
              <a:buFont typeface="Arial" panose="020B0604020202020204" pitchFamily="34" charset="0"/>
              <a:buChar char="•"/>
            </a:pPr>
            <a:r>
              <a:rPr lang="en-US" sz="3200" dirty="0"/>
              <a:t>Distribution of solar energy production</a:t>
            </a:r>
          </a:p>
          <a:p>
            <a:pPr marL="742950" lvl="1" indent="-285750">
              <a:buFont typeface="Arial" panose="020B0604020202020204" pitchFamily="34" charset="0"/>
              <a:buChar char="•"/>
            </a:pPr>
            <a:r>
              <a:rPr lang="en-US" sz="3200" dirty="0"/>
              <a:t>Outlier detection using box plots</a:t>
            </a:r>
          </a:p>
          <a:p>
            <a:pPr marL="742950" lvl="1" indent="-285750">
              <a:buFont typeface="Arial" panose="020B0604020202020204" pitchFamily="34" charset="0"/>
              <a:buChar char="•"/>
            </a:pPr>
            <a:r>
              <a:rPr lang="en-US" sz="3200" dirty="0"/>
              <a:t>Relationship between PV System Size &amp; Energy Output</a:t>
            </a:r>
          </a:p>
        </p:txBody>
      </p:sp>
      <p:sp>
        <p:nvSpPr>
          <p:cNvPr id="4" name="Title 1">
            <a:extLst>
              <a:ext uri="{FF2B5EF4-FFF2-40B4-BE49-F238E27FC236}">
                <a16:creationId xmlns:a16="http://schemas.microsoft.com/office/drawing/2014/main" id="{A9210F41-301B-4D30-AD29-5D7EF96CB4EB}"/>
              </a:ext>
            </a:extLst>
          </p:cNvPr>
          <p:cNvSpPr>
            <a:spLocks noGrp="1"/>
          </p:cNvSpPr>
          <p:nvPr>
            <p:ph type="title"/>
          </p:nvPr>
        </p:nvSpPr>
        <p:spPr>
          <a:xfrm>
            <a:off x="679450" y="327992"/>
            <a:ext cx="10833100" cy="907912"/>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600" b="1" spc="-30" dirty="0">
                <a:solidFill>
                  <a:schemeClr val="bg1"/>
                </a:solidFill>
                <a:latin typeface="Nunito"/>
                <a:cs typeface="Times New Roman"/>
              </a:rPr>
              <a:t>Exploratory Data Analysis (EDA)</a:t>
            </a:r>
            <a:endParaRPr lang="en-IN" sz="3600" b="1" i="0" dirty="0">
              <a:solidFill>
                <a:srgbClr val="E5E7EB"/>
              </a:solidFill>
              <a:effectLst/>
              <a:latin typeface="Figtree"/>
            </a:endParaRPr>
          </a:p>
        </p:txBody>
      </p:sp>
    </p:spTree>
    <p:extLst>
      <p:ext uri="{BB962C8B-B14F-4D97-AF65-F5344CB8AC3E}">
        <p14:creationId xmlns:p14="http://schemas.microsoft.com/office/powerpoint/2010/main" val="1735727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BAB30B2-A116-4011-8C3D-27318F124D44}"/>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marL="12700" algn="ctr">
              <a:spcBef>
                <a:spcPts val="100"/>
              </a:spcBef>
            </a:pPr>
            <a:r>
              <a:rPr lang="en-IN" b="1" spc="-30" dirty="0">
                <a:solidFill>
                  <a:schemeClr val="bg1"/>
                </a:solidFill>
                <a:latin typeface="Nunito"/>
                <a:cs typeface="Times New Roman"/>
              </a:rPr>
              <a:t>Exploratory Data Analysis (EDA)</a:t>
            </a:r>
            <a:endParaRPr lang="en-US" dirty="0">
              <a:solidFill>
                <a:schemeClr val="bg1"/>
              </a:solidFill>
            </a:endParaRPr>
          </a:p>
        </p:txBody>
      </p:sp>
      <p:pic>
        <p:nvPicPr>
          <p:cNvPr id="2" name="Picture 1">
            <a:extLst>
              <a:ext uri="{FF2B5EF4-FFF2-40B4-BE49-F238E27FC236}">
                <a16:creationId xmlns:a16="http://schemas.microsoft.com/office/drawing/2014/main" id="{EF6C5E1E-FA4A-4E94-A0FC-803B2EF90766}"/>
              </a:ext>
            </a:extLst>
          </p:cNvPr>
          <p:cNvPicPr>
            <a:picLocks noChangeAspect="1"/>
          </p:cNvPicPr>
          <p:nvPr/>
        </p:nvPicPr>
        <p:blipFill>
          <a:blip r:embed="rId2"/>
          <a:stretch>
            <a:fillRect/>
          </a:stretch>
        </p:blipFill>
        <p:spPr>
          <a:xfrm>
            <a:off x="2554665" y="1407711"/>
            <a:ext cx="6685420" cy="4592450"/>
          </a:xfrm>
          <a:prstGeom prst="rect">
            <a:avLst/>
          </a:prstGeom>
          <a:effectLst>
            <a:outerShdw blurRad="355600" dist="38100" dir="8100000" algn="tr" rotWithShape="0">
              <a:prstClr val="black">
                <a:alpha val="40000"/>
              </a:prstClr>
            </a:outerShdw>
          </a:effectLst>
        </p:spPr>
      </p:pic>
    </p:spTree>
    <p:extLst>
      <p:ext uri="{BB962C8B-B14F-4D97-AF65-F5344CB8AC3E}">
        <p14:creationId xmlns:p14="http://schemas.microsoft.com/office/powerpoint/2010/main" val="220160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067037-3974-4461-9350-2AF2936A11D9}"/>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marL="12700" algn="ctr">
              <a:spcBef>
                <a:spcPts val="100"/>
              </a:spcBef>
            </a:pPr>
            <a:r>
              <a:rPr lang="en-IN" b="1" spc="-30" dirty="0">
                <a:solidFill>
                  <a:schemeClr val="bg1"/>
                </a:solidFill>
                <a:latin typeface="Nunito"/>
                <a:cs typeface="Times New Roman"/>
              </a:rPr>
              <a:t>Exploratory Data Analysis (EDA)</a:t>
            </a:r>
            <a:endParaRPr lang="en-US" dirty="0">
              <a:solidFill>
                <a:schemeClr val="bg1"/>
              </a:solidFill>
            </a:endParaRPr>
          </a:p>
        </p:txBody>
      </p:sp>
      <p:pic>
        <p:nvPicPr>
          <p:cNvPr id="2" name="Picture 1">
            <a:extLst>
              <a:ext uri="{FF2B5EF4-FFF2-40B4-BE49-F238E27FC236}">
                <a16:creationId xmlns:a16="http://schemas.microsoft.com/office/drawing/2014/main" id="{4112FF78-1EF8-402A-A1D2-28579EED02F7}"/>
              </a:ext>
            </a:extLst>
          </p:cNvPr>
          <p:cNvPicPr>
            <a:picLocks noChangeAspect="1"/>
          </p:cNvPicPr>
          <p:nvPr/>
        </p:nvPicPr>
        <p:blipFill>
          <a:blip r:embed="rId2"/>
          <a:stretch>
            <a:fillRect/>
          </a:stretch>
        </p:blipFill>
        <p:spPr>
          <a:xfrm>
            <a:off x="833489" y="1305268"/>
            <a:ext cx="4778040" cy="2354320"/>
          </a:xfrm>
          <a:prstGeom prst="rect">
            <a:avLst/>
          </a:prstGeom>
          <a:effectLst>
            <a:outerShdw blurRad="279400" dist="50800" dir="5400000" algn="ctr" rotWithShape="0">
              <a:srgbClr val="000000">
                <a:alpha val="40000"/>
              </a:srgbClr>
            </a:outerShdw>
          </a:effectLst>
        </p:spPr>
      </p:pic>
      <p:pic>
        <p:nvPicPr>
          <p:cNvPr id="4" name="Picture 3">
            <a:extLst>
              <a:ext uri="{FF2B5EF4-FFF2-40B4-BE49-F238E27FC236}">
                <a16:creationId xmlns:a16="http://schemas.microsoft.com/office/drawing/2014/main" id="{043F16A6-ED8D-4D41-AD77-5C6661831B85}"/>
              </a:ext>
            </a:extLst>
          </p:cNvPr>
          <p:cNvPicPr>
            <a:picLocks noChangeAspect="1"/>
          </p:cNvPicPr>
          <p:nvPr/>
        </p:nvPicPr>
        <p:blipFill>
          <a:blip r:embed="rId3"/>
          <a:stretch>
            <a:fillRect/>
          </a:stretch>
        </p:blipFill>
        <p:spPr>
          <a:xfrm>
            <a:off x="833488" y="3748831"/>
            <a:ext cx="4778040" cy="2606541"/>
          </a:xfrm>
          <a:prstGeom prst="rect">
            <a:avLst/>
          </a:prstGeom>
          <a:effectLst>
            <a:outerShdw blurRad="279400" dist="50800" dir="5400000" algn="ctr" rotWithShape="0">
              <a:srgbClr val="000000">
                <a:alpha val="40000"/>
              </a:srgbClr>
            </a:outerShdw>
          </a:effectLst>
        </p:spPr>
      </p:pic>
      <p:pic>
        <p:nvPicPr>
          <p:cNvPr id="7" name="Picture 6">
            <a:extLst>
              <a:ext uri="{FF2B5EF4-FFF2-40B4-BE49-F238E27FC236}">
                <a16:creationId xmlns:a16="http://schemas.microsoft.com/office/drawing/2014/main" id="{45AC763C-D892-40E9-8C62-350942EF86EF}"/>
              </a:ext>
            </a:extLst>
          </p:cNvPr>
          <p:cNvPicPr>
            <a:picLocks noChangeAspect="1"/>
          </p:cNvPicPr>
          <p:nvPr/>
        </p:nvPicPr>
        <p:blipFill>
          <a:blip r:embed="rId4"/>
          <a:stretch>
            <a:fillRect/>
          </a:stretch>
        </p:blipFill>
        <p:spPr>
          <a:xfrm>
            <a:off x="6280927" y="1994104"/>
            <a:ext cx="4940104" cy="3196214"/>
          </a:xfrm>
          <a:prstGeom prst="rect">
            <a:avLst/>
          </a:prstGeom>
          <a:effectLst>
            <a:outerShdw blurRad="279400" dist="50800" dir="5400000" algn="ctr" rotWithShape="0">
              <a:srgbClr val="000000">
                <a:alpha val="40000"/>
              </a:srgbClr>
            </a:outerShdw>
          </a:effectLst>
        </p:spPr>
      </p:pic>
    </p:spTree>
    <p:extLst>
      <p:ext uri="{BB962C8B-B14F-4D97-AF65-F5344CB8AC3E}">
        <p14:creationId xmlns:p14="http://schemas.microsoft.com/office/powerpoint/2010/main" val="4201892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5CA33-C5BC-45AC-82BC-C5A6215A65AC}"/>
              </a:ext>
            </a:extLst>
          </p:cNvPr>
          <p:cNvSpPr>
            <a:spLocks noGrp="1"/>
          </p:cNvSpPr>
          <p:nvPr>
            <p:ph type="title"/>
          </p:nvPr>
        </p:nvSpPr>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US" b="1" dirty="0"/>
              <a:t>Feature Engineering</a:t>
            </a:r>
            <a:endParaRPr lang="en-US" dirty="0"/>
          </a:p>
        </p:txBody>
      </p:sp>
      <p:sp>
        <p:nvSpPr>
          <p:cNvPr id="10" name="Rectangle 2">
            <a:extLst>
              <a:ext uri="{FF2B5EF4-FFF2-40B4-BE49-F238E27FC236}">
                <a16:creationId xmlns:a16="http://schemas.microsoft.com/office/drawing/2014/main" id="{E40A1378-FC8E-4537-AB81-CC0B4700F1B7}"/>
              </a:ext>
            </a:extLst>
          </p:cNvPr>
          <p:cNvSpPr>
            <a:spLocks noGrp="1" noChangeArrowheads="1"/>
          </p:cNvSpPr>
          <p:nvPr>
            <p:ph sz="half" idx="1"/>
          </p:nvPr>
        </p:nvSpPr>
        <p:spPr bwMode="auto">
          <a:xfrm>
            <a:off x="678881" y="3822386"/>
            <a:ext cx="11238465" cy="2431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b="1" dirty="0"/>
              <a:t>New Features Created:</a:t>
            </a:r>
            <a:endParaRPr lang="en-US" dirty="0"/>
          </a:p>
          <a:p>
            <a:pPr marL="742950" lvl="1" indent="-285750">
              <a:buFont typeface="Arial" panose="020B0604020202020204" pitchFamily="34" charset="0"/>
              <a:buChar char="•"/>
            </a:pPr>
            <a:r>
              <a:rPr lang="en-US" dirty="0"/>
              <a:t>Efficiency Ratio = PV System Size (</a:t>
            </a:r>
            <a:r>
              <a:rPr lang="en-US" dirty="0" err="1"/>
              <a:t>kWac</a:t>
            </a:r>
            <a:r>
              <a:rPr lang="en-US" dirty="0"/>
              <a:t>) / Estimated PV System Size (</a:t>
            </a:r>
            <a:r>
              <a:rPr lang="en-US" dirty="0" err="1"/>
              <a:t>kWdc</a:t>
            </a:r>
            <a:r>
              <a:rPr lang="en-US" dirty="0"/>
              <a:t>)</a:t>
            </a:r>
          </a:p>
          <a:p>
            <a:pPr marL="742950" lvl="1" indent="-285750">
              <a:buFont typeface="Arial" panose="020B0604020202020204" pitchFamily="34" charset="0"/>
              <a:buChar char="•"/>
            </a:pPr>
            <a:r>
              <a:rPr lang="en-US" dirty="0"/>
              <a:t>Years Since Interconnection = 2025 - Interconnection Year</a:t>
            </a:r>
          </a:p>
          <a:p>
            <a:pPr>
              <a:buFont typeface="Arial" panose="020B0604020202020204" pitchFamily="34" charset="0"/>
              <a:buChar char="•"/>
            </a:pPr>
            <a:r>
              <a:rPr lang="en-US" b="1" dirty="0"/>
              <a:t>Irrelevant Features Removed:</a:t>
            </a:r>
            <a:endParaRPr lang="en-US" dirty="0"/>
          </a:p>
          <a:p>
            <a:pPr marL="742950" lvl="1" indent="-285750">
              <a:buFont typeface="Arial" panose="020B0604020202020204" pitchFamily="34" charset="0"/>
              <a:buChar char="•"/>
            </a:pPr>
            <a:r>
              <a:rPr lang="en-US" dirty="0"/>
              <a:t>Project ID, City, County, Zip,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C39EB7B1-A007-47D9-BB86-40F900CEF805}"/>
              </a:ext>
            </a:extLst>
          </p:cNvPr>
          <p:cNvPicPr>
            <a:picLocks noChangeAspect="1"/>
          </p:cNvPicPr>
          <p:nvPr/>
        </p:nvPicPr>
        <p:blipFill>
          <a:blip r:embed="rId2"/>
          <a:stretch>
            <a:fillRect/>
          </a:stretch>
        </p:blipFill>
        <p:spPr>
          <a:xfrm>
            <a:off x="2581301" y="1444181"/>
            <a:ext cx="6522505" cy="2378205"/>
          </a:xfrm>
          <a:prstGeom prst="rect">
            <a:avLst/>
          </a:prstGeom>
        </p:spPr>
      </p:pic>
    </p:spTree>
    <p:extLst>
      <p:ext uri="{BB962C8B-B14F-4D97-AF65-F5344CB8AC3E}">
        <p14:creationId xmlns:p14="http://schemas.microsoft.com/office/powerpoint/2010/main" val="1979978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BE6EDC-536C-446B-B947-6524DF2B07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1037" y="1058480"/>
            <a:ext cx="4182844" cy="4182844"/>
          </a:xfrm>
          <a:prstGeom prst="rect">
            <a:avLst/>
          </a:prstGeom>
          <a:effectLst/>
        </p:spPr>
      </p:pic>
      <p:sp>
        <p:nvSpPr>
          <p:cNvPr id="5" name="Title 1">
            <a:extLst>
              <a:ext uri="{FF2B5EF4-FFF2-40B4-BE49-F238E27FC236}">
                <a16:creationId xmlns:a16="http://schemas.microsoft.com/office/drawing/2014/main" id="{432B4E24-C3C1-4D43-A1B6-5291675260C5}"/>
              </a:ext>
            </a:extLst>
          </p:cNvPr>
          <p:cNvSpPr>
            <a:spLocks noGrp="1"/>
          </p:cNvSpPr>
          <p:nvPr>
            <p:ph type="title"/>
          </p:nvPr>
        </p:nvSpPr>
        <p:spPr>
          <a:xfrm>
            <a:off x="4455268" y="187324"/>
            <a:ext cx="7057847"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sz="3100" b="1" spc="-30" dirty="0">
                <a:solidFill>
                  <a:schemeClr val="bg1"/>
                </a:solidFill>
                <a:latin typeface="Nunito"/>
                <a:cs typeface="Times New Roman"/>
              </a:rPr>
              <a:t>Machine Learning Model Development</a:t>
            </a:r>
            <a:endParaRPr lang="en-IN" dirty="0">
              <a:solidFill>
                <a:schemeClr val="bg1"/>
              </a:solidFill>
            </a:endParaRPr>
          </a:p>
        </p:txBody>
      </p:sp>
      <p:sp>
        <p:nvSpPr>
          <p:cNvPr id="6" name="Content Placeholder 2">
            <a:extLst>
              <a:ext uri="{FF2B5EF4-FFF2-40B4-BE49-F238E27FC236}">
                <a16:creationId xmlns:a16="http://schemas.microsoft.com/office/drawing/2014/main" id="{277791D9-A4A6-4025-ABC2-242BCE3D296B}"/>
              </a:ext>
            </a:extLst>
          </p:cNvPr>
          <p:cNvSpPr>
            <a:spLocks noGrp="1"/>
          </p:cNvSpPr>
          <p:nvPr>
            <p:ph idx="1"/>
          </p:nvPr>
        </p:nvSpPr>
        <p:spPr>
          <a:xfrm>
            <a:off x="4454525" y="923925"/>
            <a:ext cx="7058025" cy="5133975"/>
          </a:xfrm>
        </p:spPr>
        <p:txBody>
          <a:bodyPr>
            <a:normAutofit/>
          </a:bodyPr>
          <a:lstStyle/>
          <a:p>
            <a:pPr marL="342900" indent="-342900"/>
            <a:r>
              <a:rPr lang="en-US" sz="2400" b="1" dirty="0">
                <a:solidFill>
                  <a:srgbClr val="374151"/>
                </a:solidFill>
                <a:latin typeface="Nunito"/>
              </a:rPr>
              <a:t>Choosing a Machine Learning Algorithm</a:t>
            </a:r>
            <a:r>
              <a:rPr lang="en-US" sz="2400" dirty="0">
                <a:solidFill>
                  <a:srgbClr val="374151"/>
                </a:solidFill>
                <a:latin typeface="Nunito"/>
              </a:rPr>
              <a:t>: Selected the right algorithm (e.g., Linear Regression, </a:t>
            </a:r>
            <a:r>
              <a:rPr lang="en-IN" sz="2400" b="0" dirty="0">
                <a:solidFill>
                  <a:schemeClr val="tx1"/>
                </a:solidFill>
                <a:effectLst/>
                <a:latin typeface="Nunito" pitchFamily="2" charset="0"/>
              </a:rPr>
              <a:t>Random Forest Regressor</a:t>
            </a:r>
            <a:r>
              <a:rPr lang="en-US" sz="2400" dirty="0">
                <a:solidFill>
                  <a:schemeClr val="tx1"/>
                </a:solidFill>
                <a:latin typeface="Nunito" pitchFamily="2" charset="0"/>
              </a:rPr>
              <a:t>) for our problem.</a:t>
            </a:r>
          </a:p>
          <a:p>
            <a:pPr marL="342900" indent="-342900"/>
            <a:endParaRPr lang="en-US" sz="2400" dirty="0">
              <a:solidFill>
                <a:srgbClr val="374151"/>
              </a:solidFill>
              <a:latin typeface="Nunito"/>
            </a:endParaRPr>
          </a:p>
          <a:p>
            <a:pPr marL="342900" indent="-342900">
              <a:buFont typeface="Arial" panose="020B0604020202020204" pitchFamily="34" charset="0"/>
              <a:buChar char="•"/>
            </a:pPr>
            <a:r>
              <a:rPr lang="en-US" sz="2400" b="1" dirty="0">
                <a:solidFill>
                  <a:srgbClr val="374151"/>
                </a:solidFill>
                <a:latin typeface="Nunito"/>
              </a:rPr>
              <a:t>Training and Evaluating the Model</a:t>
            </a:r>
            <a:r>
              <a:rPr lang="en-US" sz="2400" dirty="0">
                <a:solidFill>
                  <a:srgbClr val="374151"/>
                </a:solidFill>
                <a:latin typeface="Nunito"/>
              </a:rPr>
              <a:t>: Covered the process of training and evaluating the model to ensure its robust and reliable.</a:t>
            </a:r>
          </a:p>
          <a:p>
            <a:pPr marL="342900" indent="-342900">
              <a:buFont typeface="Arial" panose="020B0604020202020204" pitchFamily="34" charset="0"/>
              <a:buChar char="•"/>
            </a:pPr>
            <a:endParaRPr lang="en-US" sz="2400" dirty="0">
              <a:solidFill>
                <a:srgbClr val="374151"/>
              </a:solidFill>
              <a:latin typeface="Nunito"/>
            </a:endParaRPr>
          </a:p>
          <a:p>
            <a:pPr marL="342900" indent="-342900">
              <a:buFont typeface="Arial" panose="020B0604020202020204" pitchFamily="34" charset="0"/>
              <a:buChar char="•"/>
            </a:pPr>
            <a:r>
              <a:rPr lang="en-US" sz="2400" b="1" dirty="0">
                <a:solidFill>
                  <a:srgbClr val="374151"/>
                </a:solidFill>
                <a:latin typeface="Nunito"/>
              </a:rPr>
              <a:t>Model Evaluation Metrics</a:t>
            </a:r>
            <a:r>
              <a:rPr lang="en-US" sz="2400" dirty="0">
                <a:solidFill>
                  <a:srgbClr val="374151"/>
                </a:solidFill>
                <a:latin typeface="Nunito"/>
              </a:rPr>
              <a:t>: Used metrics like accuracy, precision, and recall to assess how well the model is performing.</a:t>
            </a:r>
          </a:p>
          <a:p>
            <a:endParaRPr lang="en-IN" dirty="0"/>
          </a:p>
        </p:txBody>
      </p:sp>
    </p:spTree>
    <p:extLst>
      <p:ext uri="{BB962C8B-B14F-4D97-AF65-F5344CB8AC3E}">
        <p14:creationId xmlns:p14="http://schemas.microsoft.com/office/powerpoint/2010/main" val="254684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D75812A-E732-4EB3-9DCD-036AF641B312}"/>
              </a:ext>
            </a:extLst>
          </p:cNvPr>
          <p:cNvSpPr>
            <a:spLocks noGrp="1" noChangeArrowheads="1"/>
          </p:cNvSpPr>
          <p:nvPr>
            <p:ph idx="1"/>
          </p:nvPr>
        </p:nvSpPr>
        <p:spPr bwMode="auto">
          <a:xfrm>
            <a:off x="679450" y="2101745"/>
            <a:ext cx="10982072" cy="3209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IN" b="1" dirty="0"/>
              <a:t>Models Used:</a:t>
            </a:r>
            <a:endParaRPr lang="en-IN" dirty="0"/>
          </a:p>
          <a:p>
            <a:pPr marL="742950" lvl="1" indent="-285750">
              <a:buFont typeface="Arial" panose="020B0604020202020204" pitchFamily="34" charset="0"/>
              <a:buChar char="•"/>
            </a:pPr>
            <a:r>
              <a:rPr lang="en-IN" dirty="0"/>
              <a:t>Linear Regression</a:t>
            </a:r>
          </a:p>
          <a:p>
            <a:pPr marL="742950" lvl="1" indent="-285750">
              <a:buFont typeface="Arial" panose="020B0604020202020204" pitchFamily="34" charset="0"/>
              <a:buChar char="•"/>
            </a:pPr>
            <a:r>
              <a:rPr lang="en-IN" dirty="0"/>
              <a:t>Random Forest</a:t>
            </a:r>
          </a:p>
          <a:p>
            <a:pPr>
              <a:buFont typeface="Arial" panose="020B0604020202020204" pitchFamily="34" charset="0"/>
              <a:buChar char="•"/>
            </a:pPr>
            <a:r>
              <a:rPr lang="en-IN" b="1" dirty="0"/>
              <a:t>Evaluation Metrics:</a:t>
            </a:r>
            <a:endParaRPr lang="en-IN" dirty="0"/>
          </a:p>
          <a:p>
            <a:pPr marL="742950" lvl="1" indent="-285750">
              <a:buFont typeface="Arial" panose="020B0604020202020204" pitchFamily="34" charset="0"/>
              <a:buChar char="•"/>
            </a:pPr>
            <a:r>
              <a:rPr lang="en-IN" dirty="0"/>
              <a:t>MAE (Mean Absolute Error)</a:t>
            </a:r>
          </a:p>
          <a:p>
            <a:pPr marL="742950" lvl="1" indent="-285750">
              <a:buFont typeface="Arial" panose="020B0604020202020204" pitchFamily="34" charset="0"/>
              <a:buChar char="•"/>
            </a:pPr>
            <a:r>
              <a:rPr lang="en-IN" dirty="0"/>
              <a:t>RMSE (Root Mean Squared Error)</a:t>
            </a:r>
          </a:p>
          <a:p>
            <a:pPr marL="742950" lvl="1" indent="-285750">
              <a:buFont typeface="Arial" panose="020B0604020202020204" pitchFamily="34" charset="0"/>
              <a:buChar char="•"/>
            </a:pPr>
            <a:r>
              <a:rPr lang="en-IN" dirty="0"/>
              <a:t>R² Score</a:t>
            </a:r>
          </a:p>
          <a:p>
            <a:pPr marL="0" indent="0" eaLnBrk="0" fontAlgn="base" hangingPunct="0">
              <a:lnSpc>
                <a:spcPct val="100000"/>
              </a:lnSpc>
              <a:spcBef>
                <a:spcPct val="0"/>
              </a:spcBef>
              <a:spcAft>
                <a:spcPct val="0"/>
              </a:spcAft>
              <a:buNone/>
            </a:pPr>
            <a:endParaRPr kumimoji="0" lang="en-US" altLang="en-US" sz="1500" i="0" u="none" strike="noStrike" cap="none" normalizeH="0" baseline="0" dirty="0">
              <a:ln>
                <a:noFill/>
              </a:ln>
              <a:solidFill>
                <a:schemeClr val="tx1"/>
              </a:solidFill>
              <a:effectLst/>
              <a:latin typeface="Nunito" pitchFamily="2" charset="0"/>
            </a:endParaRPr>
          </a:p>
        </p:txBody>
      </p:sp>
      <p:sp>
        <p:nvSpPr>
          <p:cNvPr id="5" name="Title 1">
            <a:extLst>
              <a:ext uri="{FF2B5EF4-FFF2-40B4-BE49-F238E27FC236}">
                <a16:creationId xmlns:a16="http://schemas.microsoft.com/office/drawing/2014/main" id="{75B4242D-6B75-4455-AC10-508ED2C12594}"/>
              </a:ext>
            </a:extLst>
          </p:cNvPr>
          <p:cNvSpPr>
            <a:spLocks noGrp="1"/>
          </p:cNvSpPr>
          <p:nvPr>
            <p:ph type="title"/>
          </p:nvPr>
        </p:nvSpPr>
        <p:spPr>
          <a:xfrm>
            <a:off x="679450" y="243192"/>
            <a:ext cx="10833100" cy="924195"/>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IN" b="1" dirty="0"/>
              <a:t>Model Training &amp; Selection</a:t>
            </a:r>
            <a:endParaRPr lang="en-IN" dirty="0"/>
          </a:p>
        </p:txBody>
      </p:sp>
      <p:pic>
        <p:nvPicPr>
          <p:cNvPr id="2" name="Picture 1">
            <a:extLst>
              <a:ext uri="{FF2B5EF4-FFF2-40B4-BE49-F238E27FC236}">
                <a16:creationId xmlns:a16="http://schemas.microsoft.com/office/drawing/2014/main" id="{A358199B-8BD2-4DEB-891C-D315E9193AFF}"/>
              </a:ext>
            </a:extLst>
          </p:cNvPr>
          <p:cNvPicPr>
            <a:picLocks noChangeAspect="1"/>
          </p:cNvPicPr>
          <p:nvPr/>
        </p:nvPicPr>
        <p:blipFill>
          <a:blip r:embed="rId2"/>
          <a:stretch>
            <a:fillRect/>
          </a:stretch>
        </p:blipFill>
        <p:spPr>
          <a:xfrm>
            <a:off x="6096000" y="1668026"/>
            <a:ext cx="4693334" cy="3911112"/>
          </a:xfrm>
          <a:prstGeom prst="rect">
            <a:avLst/>
          </a:prstGeom>
        </p:spPr>
      </p:pic>
    </p:spTree>
    <p:extLst>
      <p:ext uri="{BB962C8B-B14F-4D97-AF65-F5344CB8AC3E}">
        <p14:creationId xmlns:p14="http://schemas.microsoft.com/office/powerpoint/2010/main" val="2993208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F327C7-D069-493A-86FB-4E4234ECB310}"/>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marL="12700" algn="ctr">
              <a:spcBef>
                <a:spcPts val="100"/>
              </a:spcBef>
            </a:pPr>
            <a:r>
              <a:rPr lang="en-US" b="1" dirty="0"/>
              <a:t>Feature Importance Analysis</a:t>
            </a:r>
            <a:endParaRPr lang="en-US" dirty="0">
              <a:solidFill>
                <a:schemeClr val="bg1"/>
              </a:solidFill>
            </a:endParaRPr>
          </a:p>
        </p:txBody>
      </p:sp>
      <p:sp>
        <p:nvSpPr>
          <p:cNvPr id="6" name="Rectangle 3">
            <a:extLst>
              <a:ext uri="{FF2B5EF4-FFF2-40B4-BE49-F238E27FC236}">
                <a16:creationId xmlns:a16="http://schemas.microsoft.com/office/drawing/2014/main" id="{FF2F078C-55E8-4322-90B4-51675B7FA0C7}"/>
              </a:ext>
            </a:extLst>
          </p:cNvPr>
          <p:cNvSpPr>
            <a:spLocks noGrp="1" noChangeArrowheads="1"/>
          </p:cNvSpPr>
          <p:nvPr>
            <p:ph idx="1"/>
          </p:nvPr>
        </p:nvSpPr>
        <p:spPr bwMode="auto">
          <a:xfrm>
            <a:off x="679450" y="2405614"/>
            <a:ext cx="11017816" cy="2859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b="1" dirty="0"/>
              <a:t>Top Influencing Factors:</a:t>
            </a:r>
            <a:endParaRPr lang="en-US" dirty="0"/>
          </a:p>
          <a:p>
            <a:pPr marL="742950" lvl="1" indent="-285750">
              <a:buFont typeface="Arial" panose="020B0604020202020204" pitchFamily="34" charset="0"/>
              <a:buChar char="•"/>
            </a:pPr>
            <a:r>
              <a:rPr lang="en-US" dirty="0"/>
              <a:t>PV System Size (</a:t>
            </a:r>
            <a:r>
              <a:rPr lang="en-US" dirty="0" err="1"/>
              <a:t>kWac</a:t>
            </a:r>
            <a:r>
              <a:rPr lang="en-US" dirty="0"/>
              <a:t>)</a:t>
            </a:r>
          </a:p>
          <a:p>
            <a:pPr marL="742950" lvl="1" indent="-285750">
              <a:buFont typeface="Arial" panose="020B0604020202020204" pitchFamily="34" charset="0"/>
              <a:buChar char="•"/>
            </a:pPr>
            <a:r>
              <a:rPr lang="en-US" dirty="0"/>
              <a:t>Developer</a:t>
            </a:r>
          </a:p>
          <a:p>
            <a:pPr marL="742950" lvl="1" indent="-285750">
              <a:buFont typeface="Arial" panose="020B0604020202020204" pitchFamily="34" charset="0"/>
              <a:buChar char="•"/>
            </a:pPr>
            <a:r>
              <a:rPr lang="en-US" dirty="0"/>
              <a:t>Energy Storage System Size</a:t>
            </a:r>
          </a:p>
          <a:p>
            <a:pPr marL="742950" lvl="1" indent="-285750">
              <a:buFont typeface="Arial" panose="020B0604020202020204" pitchFamily="34" charset="0"/>
              <a:buChar char="•"/>
            </a:pPr>
            <a:r>
              <a:rPr lang="en-US" dirty="0"/>
              <a:t>Region</a:t>
            </a:r>
          </a:p>
          <a:p>
            <a:pPr>
              <a:buFont typeface="Arial" panose="020B0604020202020204" pitchFamily="34" charset="0"/>
              <a:buChar char="•"/>
            </a:pPr>
            <a:r>
              <a:rPr lang="en-US" b="1" dirty="0"/>
              <a:t>Visual Representation:</a:t>
            </a:r>
            <a:r>
              <a:rPr lang="en-US" dirty="0"/>
              <a:t> Bar Chart of Feature Importances</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unito" pitchFamily="2" charset="0"/>
              </a:rPr>
              <a:t>								</a:t>
            </a:r>
          </a:p>
        </p:txBody>
      </p:sp>
    </p:spTree>
    <p:extLst>
      <p:ext uri="{BB962C8B-B14F-4D97-AF65-F5344CB8AC3E}">
        <p14:creationId xmlns:p14="http://schemas.microsoft.com/office/powerpoint/2010/main" val="33561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51915-3731-4C3A-AFB2-66C6C7C91392}"/>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IN" altLang="en-US" sz="2800" b="1" i="0" u="none" strike="noStrike" cap="none" normalizeH="0" baseline="0" dirty="0">
                <a:ln>
                  <a:noFill/>
                </a:ln>
                <a:solidFill>
                  <a:schemeClr val="tx1"/>
                </a:solidFill>
                <a:effectLst/>
                <a:latin typeface="Nunito" pitchFamily="2" charset="0"/>
              </a:rPr>
              <a:t>Result:</a:t>
            </a:r>
            <a:endParaRPr kumimoji="0" lang="en-US" altLang="en-US" sz="2800" b="1" i="0" u="none" strike="noStrike" cap="none" normalizeH="0" baseline="0" dirty="0">
              <a:ln>
                <a:noFill/>
              </a:ln>
              <a:solidFill>
                <a:schemeClr val="tx1"/>
              </a:solidFill>
              <a:effectLst/>
              <a:latin typeface="Nunito" pitchFamily="2" charset="0"/>
            </a:endParaRPr>
          </a:p>
          <a:p>
            <a:pPr marL="712788" eaLnBrk="0" fontAlgn="base" hangingPunct="0">
              <a:lnSpc>
                <a:spcPct val="100000"/>
              </a:lnSpc>
              <a:spcBef>
                <a:spcPct val="0"/>
              </a:spcBef>
              <a:spcAft>
                <a:spcPct val="0"/>
              </a:spcAft>
              <a:tabLst>
                <a:tab pos="712788" algn="l"/>
              </a:tabLst>
            </a:pPr>
            <a:r>
              <a:rPr kumimoji="0" lang="en-US" altLang="en-US" sz="2400" b="0" i="0" u="none" strike="noStrike" cap="none" normalizeH="0" baseline="0" dirty="0">
                <a:ln>
                  <a:noFill/>
                </a:ln>
                <a:solidFill>
                  <a:schemeClr val="tx1"/>
                </a:solidFill>
                <a:effectLst/>
                <a:latin typeface="Nunito" pitchFamily="2" charset="0"/>
              </a:rPr>
              <a:t>Linear Regression performed with R² = 1.00 (possible overfitting)</a:t>
            </a:r>
          </a:p>
          <a:p>
            <a:pPr marL="712788" eaLnBrk="0" fontAlgn="base" hangingPunct="0">
              <a:lnSpc>
                <a:spcPct val="100000"/>
              </a:lnSpc>
              <a:spcBef>
                <a:spcPct val="0"/>
              </a:spcBef>
              <a:spcAft>
                <a:spcPct val="0"/>
              </a:spcAft>
              <a:tabLst>
                <a:tab pos="712788" algn="l"/>
              </a:tabLst>
            </a:pPr>
            <a:r>
              <a:rPr lang="en-IN" sz="2400" b="0" dirty="0">
                <a:solidFill>
                  <a:schemeClr val="tx1"/>
                </a:solidFill>
                <a:effectLst/>
                <a:latin typeface="Nunito" pitchFamily="2" charset="0"/>
              </a:rPr>
              <a:t>Random Forest Regressor</a:t>
            </a:r>
            <a:r>
              <a:rPr lang="en-US" sz="2400" dirty="0">
                <a:solidFill>
                  <a:schemeClr val="tx1"/>
                </a:solidFill>
                <a:latin typeface="Nunito" pitchFamily="2" charset="0"/>
              </a:rPr>
              <a:t> performed with </a:t>
            </a:r>
            <a:r>
              <a:rPr kumimoji="0" lang="en-US" altLang="en-US" sz="2400" b="0" i="0" u="none" strike="noStrike" cap="none" normalizeH="0" baseline="0" dirty="0">
                <a:ln>
                  <a:noFill/>
                </a:ln>
                <a:solidFill>
                  <a:schemeClr val="tx1"/>
                </a:solidFill>
                <a:effectLst/>
                <a:latin typeface="Nunito" pitchFamily="2" charset="0"/>
              </a:rPr>
              <a:t>R² = 0.99</a:t>
            </a:r>
            <a:endParaRPr lang="en-US" b="1" dirty="0">
              <a:latin typeface="Nunito" pitchFamily="2" charset="0"/>
            </a:endParaRPr>
          </a:p>
          <a:p>
            <a:pPr>
              <a:buFont typeface="Arial" panose="020B0604020202020204" pitchFamily="34" charset="0"/>
              <a:buChar char="•"/>
            </a:pPr>
            <a:r>
              <a:rPr lang="en-US" b="1" dirty="0">
                <a:latin typeface="Nunito" pitchFamily="2" charset="0"/>
              </a:rPr>
              <a:t>Key Takeaways:</a:t>
            </a:r>
            <a:endParaRPr lang="en-US" dirty="0">
              <a:latin typeface="Nunito" pitchFamily="2" charset="0"/>
            </a:endParaRPr>
          </a:p>
          <a:p>
            <a:pPr marL="742950" lvl="1" indent="-285750">
              <a:buFont typeface="Arial" panose="020B0604020202020204" pitchFamily="34" charset="0"/>
              <a:buChar char="•"/>
            </a:pPr>
            <a:r>
              <a:rPr lang="en-US" dirty="0">
                <a:latin typeface="Nunito" pitchFamily="2" charset="0"/>
              </a:rPr>
              <a:t>High accuracy achieved in solar energy prediction</a:t>
            </a:r>
          </a:p>
          <a:p>
            <a:pPr marL="742950" lvl="1" indent="-285750">
              <a:buFont typeface="Arial" panose="020B0604020202020204" pitchFamily="34" charset="0"/>
              <a:buChar char="•"/>
            </a:pPr>
            <a:r>
              <a:rPr lang="en-US" dirty="0">
                <a:latin typeface="Nunito" pitchFamily="2" charset="0"/>
              </a:rPr>
              <a:t>Important features identified for better decision-making</a:t>
            </a:r>
          </a:p>
          <a:p>
            <a:pPr>
              <a:buFont typeface="Arial" panose="020B0604020202020204" pitchFamily="34" charset="0"/>
              <a:buChar char="•"/>
            </a:pPr>
            <a:r>
              <a:rPr lang="en-US" b="1" dirty="0">
                <a:latin typeface="Nunito" pitchFamily="2" charset="0"/>
              </a:rPr>
              <a:t>Future Work:</a:t>
            </a:r>
            <a:endParaRPr lang="en-US" dirty="0">
              <a:latin typeface="Nunito" pitchFamily="2" charset="0"/>
            </a:endParaRPr>
          </a:p>
          <a:p>
            <a:pPr marL="742950" lvl="1" indent="-285750">
              <a:buFont typeface="Arial" panose="020B0604020202020204" pitchFamily="34" charset="0"/>
              <a:buChar char="•"/>
            </a:pPr>
            <a:r>
              <a:rPr lang="en-US" dirty="0">
                <a:latin typeface="Nunito" pitchFamily="2" charset="0"/>
              </a:rPr>
              <a:t>Validate against real-world data</a:t>
            </a:r>
          </a:p>
          <a:p>
            <a:pPr marL="742950" lvl="1" indent="-285750">
              <a:buFont typeface="Arial" panose="020B0604020202020204" pitchFamily="34" charset="0"/>
              <a:buChar char="•"/>
            </a:pPr>
            <a:r>
              <a:rPr lang="en-US" dirty="0">
                <a:latin typeface="Nunito" pitchFamily="2" charset="0"/>
              </a:rPr>
              <a:t>Deploy as a web application using </a:t>
            </a:r>
            <a:r>
              <a:rPr lang="en-US" dirty="0" err="1">
                <a:latin typeface="Nunito" pitchFamily="2" charset="0"/>
              </a:rPr>
              <a:t>Streamlit</a:t>
            </a:r>
            <a:r>
              <a:rPr lang="en-US" dirty="0">
                <a:latin typeface="Nunito" pitchFamily="2" charset="0"/>
              </a:rPr>
              <a:t>/Flask</a:t>
            </a:r>
          </a:p>
          <a:p>
            <a:pPr marL="742950" lvl="1" indent="-285750">
              <a:buFont typeface="Arial" panose="020B0604020202020204" pitchFamily="34" charset="0"/>
              <a:buChar char="•"/>
            </a:pPr>
            <a:r>
              <a:rPr lang="en-US" dirty="0">
                <a:latin typeface="Nunito" pitchFamily="2" charset="0"/>
              </a:rPr>
              <a:t>Build an interactive Power BI dashboard</a:t>
            </a:r>
          </a:p>
          <a:p>
            <a:endParaRPr lang="en-IN" sz="4000" dirty="0">
              <a:latin typeface="Nunito" pitchFamily="2" charset="0"/>
            </a:endParaRPr>
          </a:p>
        </p:txBody>
      </p:sp>
      <p:sp>
        <p:nvSpPr>
          <p:cNvPr id="4" name="Title 1">
            <a:extLst>
              <a:ext uri="{FF2B5EF4-FFF2-40B4-BE49-F238E27FC236}">
                <a16:creationId xmlns:a16="http://schemas.microsoft.com/office/drawing/2014/main" id="{211F63B7-D466-4029-A7D0-F65FB4E54D97}"/>
              </a:ext>
            </a:extLst>
          </p:cNvPr>
          <p:cNvSpPr>
            <a:spLocks noGrp="1"/>
          </p:cNvSpPr>
          <p:nvPr>
            <p:ph type="title"/>
          </p:nvPr>
        </p:nvSpPr>
        <p:spPr>
          <a:xfrm>
            <a:off x="679450" y="603250"/>
            <a:ext cx="10833100" cy="612775"/>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US" b="1" dirty="0"/>
              <a:t>Conclusion &amp; Future Work</a:t>
            </a:r>
            <a:endParaRPr lang="en-US" dirty="0"/>
          </a:p>
        </p:txBody>
      </p:sp>
    </p:spTree>
    <p:extLst>
      <p:ext uri="{BB962C8B-B14F-4D97-AF65-F5344CB8AC3E}">
        <p14:creationId xmlns:p14="http://schemas.microsoft.com/office/powerpoint/2010/main" val="4048139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7839</TotalTime>
  <Words>565</Words>
  <Application>Microsoft Office PowerPoint</Application>
  <PresentationFormat>Widescreen</PresentationFormat>
  <Paragraphs>102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Figtree</vt:lpstr>
      <vt:lpstr>Nunito</vt:lpstr>
      <vt:lpstr>BIA Template</vt:lpstr>
      <vt:lpstr>PowerPoint Presentation</vt:lpstr>
      <vt:lpstr>Agenda</vt:lpstr>
      <vt:lpstr>Predicting Solar Energy Production</vt:lpstr>
      <vt:lpstr>Dataset Overview</vt:lpstr>
      <vt:lpstr>The Project Workflow</vt:lpstr>
      <vt:lpstr>Data Preprocessing</vt:lpstr>
      <vt:lpstr>Data Pre-processing</vt:lpstr>
      <vt:lpstr>Exploratory Data Analysis</vt:lpstr>
      <vt:lpstr>Exploratory Data Analysis (EDA)</vt:lpstr>
      <vt:lpstr>Exploratory Data Analysis (EDA)</vt:lpstr>
      <vt:lpstr>Exploratory Data Analysis (EDA)</vt:lpstr>
      <vt:lpstr>Feature Engineering</vt:lpstr>
      <vt:lpstr>Machine Learning Model Development</vt:lpstr>
      <vt:lpstr>Model Training &amp; Selection</vt:lpstr>
      <vt:lpstr>Feature Importance Analysis</vt:lpstr>
      <vt:lpstr>Conclusion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Omkar Naik</cp:lastModifiedBy>
  <cp:revision>2329</cp:revision>
  <dcterms:created xsi:type="dcterms:W3CDTF">2020-12-23T13:36:00Z</dcterms:created>
  <dcterms:modified xsi:type="dcterms:W3CDTF">2025-02-14T14:39:33Z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